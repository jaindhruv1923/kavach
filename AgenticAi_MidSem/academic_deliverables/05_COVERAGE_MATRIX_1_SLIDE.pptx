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9441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🛡️ KAVACH: PROJECT COVERAGE MATRIX TILL NOW VS. EVALUATION CRITERIA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CSE3101: Agentic AI (Phase-2 Mid-Sem Capstone | 30 Marks) | Faculty: Dr. Soharab Hossain Shaikh &amp; Mr. Pranshu Tiwari | BMU</a:t>
            </a:r>
          </a:p>
          <a:p>
            <a:pPr>
              <a:defRPr sz="1100" b="1">
                <a:solidFill>
                  <a:srgbClr val="34D399"/>
                </a:solidFill>
                <a:latin typeface="Segoe UI"/>
              </a:defRPr>
            </a:pPr>
            <a:r>
              <a:t>Team: Dhruv Jain (230532 - Lead), Dev Garg (230487), Ansh Rohilla (230794), Ansh Adhikari (230822)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3593592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200" b="1">
                <a:solidFill>
                  <a:srgbClr val="10B981"/>
                </a:solidFill>
                <a:latin typeface="Segoe UI"/>
              </a:defRPr>
            </a:pPr>
            <a:r>
              <a:t>5 / 5 CRITERIA MET (100%)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Phase-2 Rubrics C6-C10 Fully Delivered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97679" y="1417320"/>
            <a:ext cx="3593592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200" b="1">
                <a:solidFill>
                  <a:srgbClr val="3B82F6"/>
                </a:solidFill>
                <a:latin typeface="Segoe UI"/>
              </a:defRPr>
            </a:pPr>
            <a:r>
              <a:t>306 / 306 TESTS PASSING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100% Pass Rate across 12 Pytest Modules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19" y="1417320"/>
            <a:ext cx="3593592" cy="6400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200" b="1">
                <a:solidFill>
                  <a:srgbClr val="A855F7"/>
                </a:solidFill>
                <a:latin typeface="Segoe UI"/>
              </a:defRPr>
            </a:pPr>
            <a:r>
              <a:t>12 / 12 SYLLABUS TOPICS</a:t>
            </a:r>
          </a:p>
          <a:p>
            <a:pPr>
              <a:defRPr sz="950">
                <a:solidFill>
                  <a:srgbClr val="E2E8F0"/>
                </a:solidFill>
                <a:latin typeface="Segoe UI"/>
              </a:defRPr>
            </a:pPr>
            <a:r>
              <a:t>Google ADK, CrewAI, RAG, Sentinel, A2A/MCP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176272"/>
          <a:ext cx="1109441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651760"/>
                <a:gridCol w="3291840"/>
                <a:gridCol w="2041855"/>
                <a:gridCol w="1188720"/>
              </a:tblGrid>
              <a:tr h="693420"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Evaluation Criteria</a:t>
                      </a:r>
                      <a:br/>
                      <a:r>
                        <a:t>(Phase 2 Rubric)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Course Requirement</a:t>
                      </a:r>
                      <a:br/>
                      <a:r>
                        <a:t>(Handout Specification)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Actual Engineering Approach</a:t>
                      </a:r>
                      <a:br/>
                      <a:r>
                        <a:t>(Delivered &amp; Verified Implementation)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Progress Report Link</a:t>
                      </a:r>
                      <a:br/>
                      <a:r>
                        <a:t>(Chapter &amp; Heading)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  <a:br/>
                      <a:r>
                        <a:t>(Marks)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693420"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C6: Progress vs Plan</a:t>
                      </a:r>
                      <a:br/>
                      <a:r>
                        <a:t>(Max: 5 Marks)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16-week project timeline;</a:t>
                      </a:r>
                      <a:br/>
                      <a:r>
                        <a:t>Progress vs. plan variance;</a:t>
                      </a:r>
                      <a:br/>
                      <a:r>
                        <a:t>Milestone checkpoints.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100% of Phase 1 &amp; 2 targets completed on schedule.</a:t>
                      </a:r>
                      <a:br/>
                      <a:r>
                        <a:t>Advanced Phase 3 modules (ADK Callbacks, CrewAI Flows, A2A/MCP) pre-engineered.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Chapter 6:</a:t>
                      </a:r>
                      <a:br/>
                      <a:r>
                        <a:t>Progress vs. Plan &amp;</a:t>
                      </a:r>
                      <a:br/>
                      <a:r>
                        <a:t>Conclusion (Sec 6.1)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MET</a:t>
                      </a:r>
                      <a:br/>
                      <a:r>
                        <a:t>(5 / 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93420"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C7: Technical Understanding</a:t>
                      </a:r>
                      <a:br/>
                      <a:r>
                        <a:t>(Max: 5 Marks)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Deep theoretical foundation;</a:t>
                      </a:r>
                      <a:br/>
                      <a:r>
                        <a:t>Mathematical rigor;</a:t>
                      </a:r>
                      <a:br/>
                      <a:r>
                        <a:t>System threat modeling.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• Shannon Entropy H(S) &gt;= 4.0 for API key interception.</a:t>
                      </a:r>
                      <a:br/>
                      <a:r>
                        <a:t>• Verhoeff Dihedral Group (D5) for Aadhaar cards.</a:t>
                      </a:r>
                      <a:br/>
                      <a:r>
                        <a:t>• AST Directed Acyclic Graph (DAG) for Blast Radius B(v).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Chapter 2:</a:t>
                      </a:r>
                      <a:br/>
                      <a:r>
                        <a:t>Technical Understanding &amp;</a:t>
                      </a:r>
                      <a:br/>
                      <a:r>
                        <a:t>Academic Rigor (2.1-2.3)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MET</a:t>
                      </a:r>
                      <a:br/>
                      <a:r>
                        <a:t>(5 / 5)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693420"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C8: Requirements Met Till Now</a:t>
                      </a:r>
                      <a:br/>
                      <a:r>
                        <a:t>with Actual Approach</a:t>
                      </a:r>
                      <a:br/>
                      <a:r>
                        <a:t>(Max: 10 Marks)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Working Prototype;</a:t>
                      </a:r>
                      <a:br/>
                      <a:r>
                        <a:t>Multi-Agent Orchestration;</a:t>
                      </a:r>
                      <a:br/>
                      <a:r>
                        <a:t>Google ADK &amp; CrewAI;</a:t>
                      </a:r>
                      <a:br/>
                      <a:r>
                        <a:t>Agentic RAG &amp; Guardrails.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• 8-stage deterministic FSM Orchestrator (orchestrator.py)</a:t>
                      </a:r>
                      <a:br/>
                      <a:r>
                        <a:t>• Google ADK 8-Hook Callbacks &amp; Medical Triage Pipeline</a:t>
                      </a:r>
                      <a:br/>
                      <a:r>
                        <a:t>• CrewAI Flows (@start, @listen) &amp; Cognitive Reasoning</a:t>
                      </a:r>
                      <a:br/>
                      <a:r>
                        <a:t>• Qdrant Vector RAG (384-d MiniLM-L6-v2) &amp; Slopsquat FW.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Chapter 3:</a:t>
                      </a:r>
                      <a:br/>
                      <a:r>
                        <a:t>Project Requirements Met</a:t>
                      </a:r>
                      <a:br/>
                      <a:r>
                        <a:t>Till Now (Req 1 – 12)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MET</a:t>
                      </a:r>
                      <a:br/>
                      <a:r>
                        <a:t>(10 / 10)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93420"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C9: Documentation (Working)</a:t>
                      </a:r>
                      <a:br/>
                      <a:r>
                        <a:t>(Max: 5 Marks)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Working codebase documentation;</a:t>
                      </a:r>
                      <a:br/>
                      <a:r>
                        <a:t>Automated test suite;</a:t>
                      </a:r>
                      <a:br/>
                      <a:r>
                        <a:t>Architecture manuals.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• 306 passing unit &amp; integration tests (100% pass rate)</a:t>
                      </a:r>
                      <a:br/>
                      <a:r>
                        <a:t>• 1-Click Launchers (run_midsem.bat, run_midsem.ps1)</a:t>
                      </a:r>
                      <a:br/>
                      <a:r>
                        <a:t>• Comprehensive academic deliverables library.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Chapter 4:</a:t>
                      </a:r>
                      <a:br/>
                      <a:r>
                        <a:t>Working Documentation &amp;</a:t>
                      </a:r>
                      <a:br/>
                      <a:r>
                        <a:t>Code Architecture (4.1-4.2)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MET</a:t>
                      </a:r>
                      <a:br/>
                      <a:r>
                        <a:t>(5 / 5)</a:t>
                      </a:r>
                    </a:p>
                  </a:txBody>
                  <a:tcPr>
                    <a:solidFill>
                      <a:srgbClr val="182235"/>
                    </a:solidFill>
                  </a:tcPr>
                </a:tc>
              </a:tr>
              <a:tr h="693420"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 b="1">
                          <a:solidFill>
                            <a:srgbClr val="F1F5F9"/>
                          </a:solidFill>
                          <a:latin typeface="Segoe UI"/>
                        </a:defRPr>
                      </a:pPr>
                      <a:r>
                        <a:t>C10: Individual Contribution</a:t>
                      </a:r>
                      <a:br/>
                      <a:r>
                        <a:t>(Viva Defense)</a:t>
                      </a:r>
                      <a:br/>
                      <a:r>
                        <a:t>(Max: 5 Marks)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Individual viva defense;</a:t>
                      </a:r>
                      <a:br/>
                      <a:r>
                        <a:t>Specialized role execution;</a:t>
                      </a:r>
                      <a:br/>
                      <a:r>
                        <a:t>Handout Page 7 role rotation.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>
                          <a:solidFill>
                            <a:srgbClr val="CBD5E1"/>
                          </a:solidFill>
                          <a:latin typeface="Segoe UI"/>
                        </a:defRPr>
                      </a:pPr>
                      <a:r>
                        <a:t>• Dhruv: FSM Orchestrator, Google ADK 8 Hooks, Triage Pipeline</a:t>
                      </a:r>
                      <a:br/>
                      <a:r>
                        <a:t>• Dev: Pre-Execution Sentinel, Shannon Entropy, Package FW</a:t>
                      </a:r>
                      <a:br/>
                      <a:r>
                        <a:t>• Ansh R: Qdrant Agentic RAG, AST Call Graph, Blast Radius</a:t>
                      </a:r>
                      <a:br/>
                      <a:r>
                        <a:t>• Ansh A: Ephemeral Sandbox, 306 Tests, Frontend Cockpit.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>
                        <a:defRPr sz="850" b="1">
                          <a:solidFill>
                            <a:srgbClr val="60A5FA"/>
                          </a:solidFill>
                          <a:latin typeface="Segoe UI"/>
                        </a:defRPr>
                      </a:pPr>
                      <a:r>
                        <a:t>Chapter 5:</a:t>
                      </a:r>
                      <a:br/>
                      <a:r>
                        <a:t>Individual Contribution &amp;</a:t>
                      </a:r>
                      <a:br/>
                      <a:r>
                        <a:t>Viva Defense Matrix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 wrap="square" tIns="36576" bIns="36576" lIns="54864" rIns="54864"/>
                    <a:lstStyle/>
                    <a:p>
                      <a:pPr algn="ctr">
                        <a:defRPr sz="850" b="1">
                          <a:solidFill>
                            <a:srgbClr val="34D399"/>
                          </a:solidFill>
                          <a:latin typeface="Segoe UI"/>
                        </a:defRPr>
                      </a:pPr>
                      <a:r>
                        <a:t>MET</a:t>
                      </a:r>
                      <a:br/>
                      <a:r>
                        <a:t>(5 / 5)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